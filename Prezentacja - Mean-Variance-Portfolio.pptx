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8838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Optymalizacja portfela akcji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miarą ryzyka CVaR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Scenariusze rynkowe generowane łańcuchami Markowa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3648456"/>
            <a:ext cx="179222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658368" y="3520440"/>
            <a:ext cx="256032" cy="256032"/>
          </a:xfrm>
          <a:prstGeom prst="ellipse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1349654" y="3648456"/>
            <a:ext cx="179222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1093622" y="3520440"/>
            <a:ext cx="256032" cy="256032"/>
          </a:xfrm>
          <a:prstGeom prst="ellipse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1528877" y="3520440"/>
            <a:ext cx="256032" cy="25603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640080" y="422452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12 — Algorytmiczne zastosowania łańcuchów Markowa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5445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czerwiec 2026</a:t>
            </a:r>
            <a:endParaRPr lang="en-US" sz="1400" dirty="0"/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95A23EA1-D22C-C261-B3A6-B06C2AA42CA2}"/>
              </a:ext>
            </a:extLst>
          </p:cNvPr>
          <p:cNvSpPr txBox="1"/>
          <p:nvPr/>
        </p:nvSpPr>
        <p:spPr>
          <a:xfrm>
            <a:off x="7719892" y="4602998"/>
            <a:ext cx="14241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400" dirty="0">
                <a:solidFill>
                  <a:schemeClr val="bg1"/>
                </a:solidFill>
              </a:rPr>
              <a:t>Cezary Polkowski</a:t>
            </a:r>
            <a:br>
              <a:rPr lang="pl-PL" sz="1400" dirty="0">
                <a:solidFill>
                  <a:schemeClr val="bg1"/>
                </a:solidFill>
              </a:rPr>
            </a:br>
            <a:r>
              <a:rPr lang="pl-PL" sz="1400" dirty="0">
                <a:solidFill>
                  <a:schemeClr val="bg1"/>
                </a:solidFill>
              </a:rPr>
              <a:t>Mateusz Stasiak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 projektu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Mamy </a:t>
            </a: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 PLN</a:t>
            </a:r>
            <a:r>
              <a:rPr lang="en-US" sz="16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możemy kupić akcje </a:t>
            </a: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spółek</a:t>
            </a:r>
            <a:r>
              <a:rPr lang="en-US" sz="16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Jak podzielić kapitał, aby: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oczekiwany zysk po T krokach wynosił zadane rₑ,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ryzyko dużej straty było jak najmniejsze?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30175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„Ryzyko” mierzymy nowoczesną miarą </a:t>
            </a:r>
            <a:r>
              <a:rPr lang="en-US" sz="145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</a:t>
            </a:r>
            <a:r>
              <a:rPr lang="en-US" sz="14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która wkrótce zastąpi VaR w bankowych systemach pomiaru ryzyka.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617720" y="960120"/>
            <a:ext cx="4069080" cy="1691640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64008" cy="169164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4864608" y="1527048"/>
            <a:ext cx="566928" cy="566928"/>
          </a:xfrm>
          <a:prstGeom prst="ellipse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2009" y="1674449"/>
            <a:ext cx="272125" cy="27212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623560" y="11247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1 — SYMULACJA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23560" y="138074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scenariuszy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623560" y="178308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Łańcuch Markowa modeluje stany rynku; Monte Carlo daje 1000 scenariuszy przyszłych cen.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17720" y="2880360"/>
            <a:ext cx="4069080" cy="1691640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1"/>
          <p:cNvSpPr/>
          <p:nvPr/>
        </p:nvSpPr>
        <p:spPr>
          <a:xfrm>
            <a:off x="4617720" y="2880360"/>
            <a:ext cx="64008" cy="16916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Shape 12"/>
          <p:cNvSpPr/>
          <p:nvPr/>
        </p:nvSpPr>
        <p:spPr>
          <a:xfrm>
            <a:off x="4864608" y="344728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009" y="3594689"/>
            <a:ext cx="272125" cy="27212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23560" y="3044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CZĘŚĆ 2 — OPTYMALIZACJA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623560" y="3300984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Minimalny CVaR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5623560" y="37033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Wybór portfela to program liniowy — rozwiązany biblioteką cvxpy dla wielu wartości rₑ.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Cztery pojęcia, które wystarczą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23360" cy="1783080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64008" cy="17830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685800" y="11430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" y="127375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53312" y="11887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Portfel  x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731520" y="1755648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Wektor x mówi, ile sztuk każdej akcji kupujemy. Wartość portfela: 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Vₜ(x) = Σ xᵢ·Sᵢₜ</a:t>
            </a: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(cena × ilość).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914400"/>
            <a:ext cx="4023360" cy="1783080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4663440" y="914400"/>
            <a:ext cx="64008" cy="1783080"/>
          </a:xfrm>
          <a:prstGeom prst="rect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4892040" y="1143000"/>
            <a:ext cx="502920" cy="502920"/>
          </a:xfrm>
          <a:prstGeom prst="ellipse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2799" y="127375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59552" y="11887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Stopa zwrotu  R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4937760" y="1755648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Procentowy zysk lub strata na koniec (chwila T): 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(Vₜ − V₀) / V₀</a:t>
            </a: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Żądamy, by jej wartość oczekiwana wynosiła rₑ.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2926080"/>
            <a:ext cx="4023360" cy="1783080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6" name="Shape 12"/>
          <p:cNvSpPr/>
          <p:nvPr/>
        </p:nvSpPr>
        <p:spPr>
          <a:xfrm>
            <a:off x="457200" y="2926080"/>
            <a:ext cx="64008" cy="17830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3"/>
          <p:cNvSpPr/>
          <p:nvPr/>
        </p:nvSpPr>
        <p:spPr>
          <a:xfrm>
            <a:off x="685800" y="3154680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559" y="328543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53312" y="32004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Strata  L</a:t>
            </a:r>
            <a:endParaRPr lang="en-US" sz="1650" dirty="0"/>
          </a:p>
        </p:txBody>
      </p:sp>
      <p:sp>
        <p:nvSpPr>
          <p:cNvPr id="20" name="Text 15"/>
          <p:cNvSpPr/>
          <p:nvPr/>
        </p:nvSpPr>
        <p:spPr>
          <a:xfrm>
            <a:off x="731520" y="3767328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Zysk ze znakiem minus: 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L(x) = −(Vₜ − V₀)</a:t>
            </a: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Dodatnia strata = portfel stracił na wartości.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663440" y="2926080"/>
            <a:ext cx="4023360" cy="1783080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Shape 17"/>
          <p:cNvSpPr/>
          <p:nvPr/>
        </p:nvSpPr>
        <p:spPr>
          <a:xfrm>
            <a:off x="4663440" y="2926080"/>
            <a:ext cx="64008" cy="178308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3" name="Shape 18"/>
          <p:cNvSpPr/>
          <p:nvPr/>
        </p:nvSpPr>
        <p:spPr>
          <a:xfrm>
            <a:off x="4892040" y="3154680"/>
            <a:ext cx="502920" cy="502920"/>
          </a:xfrm>
          <a:prstGeom prst="ellipse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2799" y="328543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59552" y="320040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Zakaz krótkiej sprzedaży</a:t>
            </a:r>
            <a:endParaRPr lang="en-US" sz="1650" dirty="0"/>
          </a:p>
        </p:txBody>
      </p:sp>
      <p:sp>
        <p:nvSpPr>
          <p:cNvPr id="26" name="Text 20"/>
          <p:cNvSpPr/>
          <p:nvPr/>
        </p:nvSpPr>
        <p:spPr>
          <a:xfrm>
            <a:off x="4937760" y="3767328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 wolno sprzedawać akcji, których nie mamy — wszystkie ilości nieujemne: </a:t>
            </a: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≥ 0</a:t>
            </a: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rynku: łańcuch Markowa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Każda akcja w każdej chwili jest w jednym z 3 stanów rynku.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 zmienia się co krok zgodnie z macierzą przejścia P.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Reżimy są trwałe: na diagonali 0.80–0.90.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 steruje rozkładem stopy zwrotu w danym kroku: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384048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śr. zwrot / krok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zmienność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C7A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2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2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stagnacja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2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2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2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27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Image 0" descr="prez_img/diagram_marko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960120"/>
            <a:ext cx="4355869" cy="23957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26280" y="3611880"/>
            <a:ext cx="4206240" cy="1078992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3"/>
          <p:cNvSpPr/>
          <p:nvPr/>
        </p:nvSpPr>
        <p:spPr>
          <a:xfrm>
            <a:off x="4709160" y="3721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Dynamika ceny (zwrot losowany według stanu):</a:t>
            </a:r>
            <a:endParaRPr lang="en-US" sz="1200" dirty="0"/>
          </a:p>
        </p:txBody>
      </p:sp>
      <p:pic>
        <p:nvPicPr>
          <p:cNvPr id="8" name="Image 1" descr="prez_img/f_ce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664" y="4096512"/>
            <a:ext cx="3935471" cy="2011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 Carlo: 1000 scenariuszy rynku</a:t>
            </a:r>
            <a:endParaRPr lang="en-US" sz="2800" dirty="0"/>
          </a:p>
        </p:txBody>
      </p:sp>
      <p:pic>
        <p:nvPicPr>
          <p:cNvPr id="3" name="Image 0" descr="prez_img/trajektor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5433714" cy="2971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16052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Wynik symulacji: ceny sⱼ w chwili T dla scenariuszy j = 1…1000, każdy z prawdopodobieństwem pⱼ = 1/1000.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217920" y="1005840"/>
            <a:ext cx="2468880" cy="969264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Shape 3"/>
          <p:cNvSpPr/>
          <p:nvPr/>
        </p:nvSpPr>
        <p:spPr>
          <a:xfrm>
            <a:off x="6217920" y="1005840"/>
            <a:ext cx="64008" cy="969264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7" name="Text 4"/>
          <p:cNvSpPr/>
          <p:nvPr/>
        </p:nvSpPr>
        <p:spPr>
          <a:xfrm>
            <a:off x="6400800" y="10972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1000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0" y="15727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niezależnych scenariuszy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17920" y="2121408"/>
            <a:ext cx="2468880" cy="969264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Shape 7"/>
          <p:cNvSpPr/>
          <p:nvPr/>
        </p:nvSpPr>
        <p:spPr>
          <a:xfrm>
            <a:off x="6217920" y="2121408"/>
            <a:ext cx="64008" cy="969264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1" name="Text 8"/>
          <p:cNvSpPr/>
          <p:nvPr/>
        </p:nvSpPr>
        <p:spPr>
          <a:xfrm>
            <a:off x="6400800" y="221284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 = 30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400800" y="268833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kroków czasowych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17920" y="3236976"/>
            <a:ext cx="2468880" cy="969264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64008" cy="969264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5" name="Text 12"/>
          <p:cNvSpPr/>
          <p:nvPr/>
        </p:nvSpPr>
        <p:spPr>
          <a:xfrm>
            <a:off x="6400800" y="332841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−7% … +21%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400800" y="380390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oczekiwane zwroty akcji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217920" y="431596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Akcja startująca w bessie traci średnio, startująca w hossie zyskuje — stan początkowy ma znaczenie przez dziesiątki kroków.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Jak mierzymy ryzyko? VaR i CVaR</a:t>
            </a:r>
            <a:endParaRPr lang="en-US" sz="2800" dirty="0"/>
          </a:p>
        </p:txBody>
      </p:sp>
      <p:pic>
        <p:nvPicPr>
          <p:cNvPr id="3" name="Image 0" descr="prez_img/histogram_str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0120"/>
            <a:ext cx="5350118" cy="29260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89320" y="960120"/>
            <a:ext cx="2697480" cy="1325880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2"/>
          <p:cNvSpPr/>
          <p:nvPr/>
        </p:nvSpPr>
        <p:spPr>
          <a:xfrm>
            <a:off x="5989320" y="960120"/>
            <a:ext cx="64008" cy="13258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3"/>
          <p:cNvSpPr/>
          <p:nvPr/>
        </p:nvSpPr>
        <p:spPr>
          <a:xfrm>
            <a:off x="6199632" y="1069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VaR₀.₉₅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199632" y="1417320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Poziom straty przekraczany tylko w 5% najgorszych scenariuszy.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89320" y="2423160"/>
            <a:ext cx="2697480" cy="1325880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Shape 6"/>
          <p:cNvSpPr/>
          <p:nvPr/>
        </p:nvSpPr>
        <p:spPr>
          <a:xfrm>
            <a:off x="5989320" y="2423160"/>
            <a:ext cx="64008" cy="1325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6199632" y="25328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CVaR₀.₉₅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199632" y="2880360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Średnia strata w tych najgorszych 5% — patrzy w głąb ogona rozkładu.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89320" y="3858768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„widzi” katastrofalne scenariusze, które VaR ignoruje.</a:t>
            </a:r>
            <a:endParaRPr lang="en-US" sz="1100" dirty="0"/>
          </a:p>
        </p:txBody>
      </p:sp>
      <p:pic>
        <p:nvPicPr>
          <p:cNvPr id="13" name="Image 1" descr="prez_img/f_cv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4838" y="4343400"/>
            <a:ext cx="4274004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Wybór portfela = program liniowy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069080" cy="1627632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64008" cy="1627632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658368" y="100584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CELU  (formuła Rockafellara–Uryaseva)</a:t>
            </a:r>
            <a:endParaRPr lang="en-US" sz="1300" dirty="0"/>
          </a:p>
        </p:txBody>
      </p:sp>
      <p:pic>
        <p:nvPicPr>
          <p:cNvPr id="6" name="Image 0" descr="prez_img/f_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967" y="1371600"/>
            <a:ext cx="3216402" cy="960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17720" y="914400"/>
            <a:ext cx="4069080" cy="1627632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8" name="Shape 5"/>
          <p:cNvSpPr/>
          <p:nvPr/>
        </p:nvSpPr>
        <p:spPr>
          <a:xfrm>
            <a:off x="4617720" y="914400"/>
            <a:ext cx="64008" cy="162763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Text 6"/>
          <p:cNvSpPr/>
          <p:nvPr/>
        </p:nvSpPr>
        <p:spPr>
          <a:xfrm>
            <a:off x="4818888" y="100584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TRIK: LINEARYZACJA CZĘŚCI DODATNIEJ (·)⁺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818888" y="1335024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Nieliniowy składnik (Lⱼ − β)⁺ zastępują zmienne pomocnicze zⱼ i dwa ograniczenia liniowe:</a:t>
            </a:r>
            <a:endParaRPr lang="en-US" sz="1200" dirty="0"/>
          </a:p>
        </p:txBody>
      </p:sp>
      <p:pic>
        <p:nvPicPr>
          <p:cNvPr id="11" name="Image 1" descr="prez_img/f_ogr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1774" y="2029968"/>
            <a:ext cx="3051829" cy="29260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" y="2743200"/>
            <a:ext cx="2679192" cy="1481328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3" name="Shape 9"/>
          <p:cNvSpPr/>
          <p:nvPr/>
        </p:nvSpPr>
        <p:spPr>
          <a:xfrm>
            <a:off x="457200" y="2743200"/>
            <a:ext cx="64008" cy="148132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4" name="Text 10"/>
          <p:cNvSpPr/>
          <p:nvPr/>
        </p:nvSpPr>
        <p:spPr>
          <a:xfrm>
            <a:off x="658368" y="283464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BUDŻET</a:t>
            </a:r>
            <a:endParaRPr lang="en-US" sz="1300" dirty="0"/>
          </a:p>
        </p:txBody>
      </p:sp>
      <p:pic>
        <p:nvPicPr>
          <p:cNvPr id="15" name="Image 2" descr="prez_img/f_ogr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6417" y="3456432"/>
            <a:ext cx="1231614" cy="2926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246120" y="2743200"/>
            <a:ext cx="2679192" cy="1481328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2"/>
          <p:cNvSpPr/>
          <p:nvPr/>
        </p:nvSpPr>
        <p:spPr>
          <a:xfrm>
            <a:off x="3246120" y="2743200"/>
            <a:ext cx="64008" cy="148132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8" name="Text 13"/>
          <p:cNvSpPr/>
          <p:nvPr/>
        </p:nvSpPr>
        <p:spPr>
          <a:xfrm>
            <a:off x="3447288" y="283464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OCZEKIWANY ZWROT = rₑ</a:t>
            </a:r>
            <a:endParaRPr lang="en-US" sz="1300" dirty="0"/>
          </a:p>
        </p:txBody>
      </p:sp>
      <p:pic>
        <p:nvPicPr>
          <p:cNvPr id="19" name="Image 3" descr="prez_img/f_ogr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626" y="3364992"/>
            <a:ext cx="2157037" cy="56692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007608" y="2743200"/>
            <a:ext cx="2679192" cy="1481328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1" name="Shape 15"/>
          <p:cNvSpPr/>
          <p:nvPr/>
        </p:nvSpPr>
        <p:spPr>
          <a:xfrm>
            <a:off x="6007608" y="2743200"/>
            <a:ext cx="64008" cy="148132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2" name="Text 16"/>
          <p:cNvSpPr/>
          <p:nvPr/>
        </p:nvSpPr>
        <p:spPr>
          <a:xfrm>
            <a:off x="6208776" y="2834640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KRÓTKIEJ SPRZEDAŻY</a:t>
            </a:r>
            <a:endParaRPr lang="en-US" sz="1300" dirty="0"/>
          </a:p>
        </p:txBody>
      </p:sp>
      <p:pic>
        <p:nvPicPr>
          <p:cNvPr id="23" name="Image 4" descr="prez_img/f_ogr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9039" y="3456432"/>
            <a:ext cx="687185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optimum β* = VaR, a wartość funkcji celu = CVaR.  </a:t>
            </a: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1006 zmiennych — cvxpy rozwiązuje w ułamku sekundy.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Wyniki: granica efektywna</a:t>
            </a:r>
            <a:endParaRPr lang="en-US" sz="2800" dirty="0"/>
          </a:p>
        </p:txBody>
      </p:sp>
      <p:pic>
        <p:nvPicPr>
          <p:cNvPr id="3" name="Image 0" descr="granica_efektyw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14400"/>
            <a:ext cx="5966460" cy="3977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46520" y="1097280"/>
            <a:ext cx="2286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Każdy punkt = optymalny portfel dla innego wymaganego zwrotu rₑ (siatka 2–15%).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Minimalne ryzyko: CVaR = 2021 PLN przy rₑ = 11.75%.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Szara gałąź — portfele zdominowane: to samo ryzyko, mniejszy zwrot.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Żądanie zwrotu poniżej 11.75% nie zmniejsza ryzyka — dywersyfikacja przestaje pomagać.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Wyniki: optymalny portfel dla rₑ = 12.8%</a:t>
            </a:r>
            <a:endParaRPr lang="en-US" sz="2800" dirty="0"/>
          </a:p>
        </p:txBody>
      </p:sp>
      <p:pic>
        <p:nvPicPr>
          <p:cNvPr id="3" name="Image 0" descr="portfel_kolow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4864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035040" y="960120"/>
            <a:ext cx="2651760" cy="1024128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5" name="Shape 2"/>
          <p:cNvSpPr/>
          <p:nvPr/>
        </p:nvSpPr>
        <p:spPr>
          <a:xfrm>
            <a:off x="6035040" y="960120"/>
            <a:ext cx="64008" cy="102412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6" name="Text 3"/>
          <p:cNvSpPr/>
          <p:nvPr/>
        </p:nvSpPr>
        <p:spPr>
          <a:xfrm>
            <a:off x="6236208" y="1051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1486 PLN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6236208" y="15636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VaR₀.₉₅ = β*  (próg strat)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035040" y="2148840"/>
            <a:ext cx="2651760" cy="1024128"/>
          </a:xfrm>
          <a:prstGeom prst="rect">
            <a:avLst/>
          </a:prstGeom>
          <a:solidFill>
            <a:srgbClr val="EAF1FE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9" name="Shape 6"/>
          <p:cNvSpPr/>
          <p:nvPr/>
        </p:nvSpPr>
        <p:spPr>
          <a:xfrm>
            <a:off x="6035040" y="2148840"/>
            <a:ext cx="64008" cy="1024128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0" name="Text 7"/>
          <p:cNvSpPr/>
          <p:nvPr/>
        </p:nvSpPr>
        <p:spPr>
          <a:xfrm>
            <a:off x="6236208" y="22402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2033 PLN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6236208" y="275234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CVaR₀.₉₅  (średnia w ogonie)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035040" y="338328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Najwięcej kapitału w spółkach startujących w hossie (59%).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32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 7.5% w spółce z bessy — jej niska zależność od reszty ścina ogon strat.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 pokazaliśmy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8016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123444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Łańcuch Markowa jako model rynku</a:t>
            </a:r>
            <a:endParaRPr lang="en-US" sz="1650" dirty="0"/>
          </a:p>
        </p:txBody>
      </p:sp>
      <p:sp>
        <p:nvSpPr>
          <p:cNvPr id="5" name="Text 2"/>
          <p:cNvSpPr/>
          <p:nvPr/>
        </p:nvSpPr>
        <p:spPr>
          <a:xfrm>
            <a:off x="1234440" y="15819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Trwałe reżimy (hossa / stagnacja / bessa) sterują rozkładem zwrotów — 1000 scenariuszy Monte Carlo.</a:t>
            </a:r>
            <a:endParaRPr lang="en-US" sz="12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67128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34440" y="212140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 zamiast wariancji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1234440" y="246888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Miara ryzyka, która uśrednia najgorsze 5% scenariuszy zamiast karać również zyski.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4096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34440" y="3008376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Optymalizacja jako program liniowy</a:t>
            </a:r>
            <a:endParaRPr lang="en-US" sz="1650" dirty="0"/>
          </a:p>
        </p:txBody>
      </p:sp>
      <p:sp>
        <p:nvSpPr>
          <p:cNvPr id="11" name="Text 6"/>
          <p:cNvSpPr/>
          <p:nvPr/>
        </p:nvSpPr>
        <p:spPr>
          <a:xfrm>
            <a:off x="1234440" y="335584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Formuła Rockafellara–Uryaseva + linearyzacja (·)⁺ — przy okazji za darmo dostajemy VaR = β*.</a:t>
            </a:r>
            <a:endParaRPr lang="en-US" sz="12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41064"/>
            <a:ext cx="365760" cy="36576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34440" y="3895344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Pełna granica efektywna</a:t>
            </a:r>
            <a:endParaRPr lang="en-US" sz="1650" dirty="0"/>
          </a:p>
        </p:txBody>
      </p:sp>
      <p:sp>
        <p:nvSpPr>
          <p:cNvPr id="14" name="Text 8"/>
          <p:cNvSpPr/>
          <p:nvPr/>
        </p:nvSpPr>
        <p:spPr>
          <a:xfrm>
            <a:off x="1234440" y="4242816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Minimalny CVaR 2021 PLN przy zwrocie 11.75%; powyżej — klasyczny kompromis zysk/ryzyko.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868680" y="4773168"/>
            <a:ext cx="128016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6" name="Shape 10"/>
          <p:cNvSpPr/>
          <p:nvPr/>
        </p:nvSpPr>
        <p:spPr>
          <a:xfrm>
            <a:off x="685800" y="4681728"/>
            <a:ext cx="182880" cy="182880"/>
          </a:xfrm>
          <a:prstGeom prst="ellipse">
            <a:avLst/>
          </a:prstGeom>
          <a:solidFill>
            <a:srgbClr val="2C7A4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7" name="Shape 11"/>
          <p:cNvSpPr/>
          <p:nvPr/>
        </p:nvSpPr>
        <p:spPr>
          <a:xfrm>
            <a:off x="1179576" y="4773168"/>
            <a:ext cx="128016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8" name="Shape 12"/>
          <p:cNvSpPr/>
          <p:nvPr/>
        </p:nvSpPr>
        <p:spPr>
          <a:xfrm>
            <a:off x="996696" y="4681728"/>
            <a:ext cx="182880" cy="182880"/>
          </a:xfrm>
          <a:prstGeom prst="ellipse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19" name="Shape 13"/>
          <p:cNvSpPr/>
          <p:nvPr/>
        </p:nvSpPr>
        <p:spPr>
          <a:xfrm>
            <a:off x="1307592" y="4681728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20" name="Text 14"/>
          <p:cNvSpPr/>
          <p:nvPr/>
        </p:nvSpPr>
        <p:spPr>
          <a:xfrm>
            <a:off x="4572000" y="4617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A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numpy  ·  cvxpy  ·  matplotlib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717</Words>
  <Application>Microsoft Office PowerPoint</Application>
  <PresentationFormat>Pokaz na ekranie (16:9)</PresentationFormat>
  <Paragraphs>99</Paragraphs>
  <Slides>10</Slides>
  <Notes>10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Optymalizacja portfela akcji miarą ryzyka CVaR</dc:title>
  <dc:subject>PptxGenJS Presentation</dc:subject>
  <dc:creator>PptxGenJS</dc:creator>
  <cp:lastModifiedBy>7505452 Polkowski Cezary</cp:lastModifiedBy>
  <cp:revision>2</cp:revision>
  <dcterms:created xsi:type="dcterms:W3CDTF">2026-06-10T20:23:18Z</dcterms:created>
  <dcterms:modified xsi:type="dcterms:W3CDTF">2026-06-13T12:58:56Z</dcterms:modified>
</cp:coreProperties>
</file>